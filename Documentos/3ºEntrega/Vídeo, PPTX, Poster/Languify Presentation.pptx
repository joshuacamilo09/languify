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E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CC377F-C23D-3F43-8374-9760763AC8DE}" v="709" dt="2025-12-12T21:50:27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94708"/>
  </p:normalViewPr>
  <p:slideViewPr>
    <p:cSldViewPr snapToGrid="0">
      <p:cViewPr varScale="1">
        <p:scale>
          <a:sx n="149" d="100"/>
          <a:sy n="149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E37C-4BE6-224A-C381-218FBC9D4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9CE6F-4F00-F6D0-3BC8-E63B248A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B2C35-7BBF-2C07-24F2-023B78646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53FF8-A0F4-06F2-420A-CA8BD035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040AA-8E5F-FBE1-6288-B534A0C5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85270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CFC2-A88D-7F29-4058-A60A5A9F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6DCF-D6D6-4ACF-3CCF-B4292A659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A05E7-110C-F34F-1153-E3E08F7C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B3AE2-25D9-D7EC-8CF8-398951B88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E1CC3-0EF6-0B04-05C4-0F6F84F5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9540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A601-6D0F-ED90-68BB-3CD056E42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62C29-93EC-2B86-E2A1-E178BD99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6A35-5C50-25C8-3A7D-026C794C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AAFC2-3EB3-6D70-CC02-DB413BF0E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0D3D-3C01-046D-7914-DD995890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2470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A88E-3009-A841-805B-A56378B37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8B23D-B25F-E324-9A09-C8C5D5ADF9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AD677C-31F4-A4E4-A675-A008734DD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15DCC-467C-7255-A01A-CBA9C956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F5464-1134-6800-1227-F4324B3DD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1F21C-28DA-A922-0EAB-A18F4DE2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13684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2975-7980-B59F-0448-EF4FE5AEA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73811-811E-530E-2C3D-7849A039B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86043-4C29-73E9-D85B-66B312870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1FBE6-87A9-80E0-D070-A797BD593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A41326-D37B-5C5E-2D61-9FA5FCB355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CDD30-6057-B2DC-A258-F1E28A028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3DC114-7374-33AD-86AD-7B60E7708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F0CDCA-E21C-6831-35F7-D0C92192A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85060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F5BD-2846-D804-F1D7-C00DB8855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24059-FC01-DE32-5D06-B4505364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25428-D8B1-9AF3-ABCE-3D140EC2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63E1C-9A2C-03B7-7690-0A2AD9BA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17726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9ADED-BD5E-41D9-E295-65E3195E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53643-D44A-4EC3-7A7B-55BDDC5C5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8E89-131E-D89F-4A49-000983D1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69670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0891-8298-9E09-F9C4-2287431D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A9B3-D82D-88A0-DF60-105994EC7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20D63-0A3D-5740-A6D3-3D8BC31A0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01DD8-7A67-25F2-1BCB-50B4E4B9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B1964-B913-4D9A-E4F2-3D6C87DA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E5DAB-51FE-E89D-01C2-22DC83D4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74397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72698-43DD-49F2-9491-0AD03F31D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565635-45DA-804A-77F9-588A754DE8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D7D96-2855-E41E-ABAE-65FC1752C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295B-6F45-5407-0BB7-15E3C0026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7BD45-4FD5-B799-B0E8-9E97E28A4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2CCB3-5A79-C166-86E4-B44D2CD98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08570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637C-4C24-05A2-7FBC-662BC3178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3BC21-6609-29B3-A907-B194416DA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60A38-BA9D-0BAB-F2FB-D96D53F0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8FA3-1A77-0F56-2C68-756955C5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F0111-E6C3-A668-B1D4-4818D9B7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49994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70E0D-0826-7992-DB0A-40096D4D4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079E4-1E2B-FF4F-EF7C-F483F0C4E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D392A2-A7F3-251C-E3CA-445BB15E7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D36B5-23BB-85F3-3565-EFDF02E48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40D29-07D4-5409-C32E-BC739EB2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793341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B4BC9-BB5F-D1F1-0CDB-40397E01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139A5-5A45-F846-8ED4-D44961D66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D1ECA-04A7-C5C7-BD53-D1E4F2723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22061E-47BA-DF4D-B5E6-74C4E07F26D2}" type="datetimeFigureOut">
              <a:rPr lang="en-PT" smtClean="0"/>
              <a:t>12/12/2025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1C0A-568B-5238-1F35-10EBC3EB5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780CE-126A-C75B-E075-5C1BBF191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697A0-C3F6-0545-AB15-A31650685381}" type="slidenum">
              <a:rPr lang="en-PT" smtClean="0"/>
              <a:t>‹#›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09923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4.sv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4000">
              <a:srgbClr val="38EBCF">
                <a:shade val="30000"/>
                <a:satMod val="115000"/>
              </a:srgbClr>
            </a:gs>
            <a:gs pos="1000">
              <a:schemeClr val="accent3">
                <a:lumMod val="20000"/>
                <a:lumOff val="80000"/>
              </a:schemeClr>
            </a:gs>
            <a:gs pos="83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1CC82218-72DE-2631-CEF4-FD2B1662A7CC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F37A7563-9573-1460-EF06-90757C2C2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76E800DA-0184-ADF0-9438-0192219E83A9}"/>
              </a:ext>
            </a:extLst>
          </p:cNvPr>
          <p:cNvSpPr>
            <a:spLocks noChangeAspect="1"/>
          </p:cNvSpPr>
          <p:nvPr/>
        </p:nvSpPr>
        <p:spPr>
          <a:xfrm rot="3521645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C70503C3-BE7A-F884-B56D-0EF39A30D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37F88C05-2241-4148-E8A4-E9F5DFE936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EC011FF2-B214-E8B5-CA08-EA6ACBDE46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CE240546-779E-5232-1FD4-F2B6A99A23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E60B2540-FD80-0E0B-5C25-02383D7BCB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2E42A1-0614-8A0A-2BE2-0274A17C3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919" y="6072386"/>
            <a:ext cx="3337123" cy="78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58B8110E-F505-3BAA-7C4F-B6AC47795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21159DE-4D74-243D-76D5-6E5AD979DF59}"/>
              </a:ext>
            </a:extLst>
          </p:cNvPr>
          <p:cNvSpPr txBox="1"/>
          <p:nvPr/>
        </p:nvSpPr>
        <p:spPr>
          <a:xfrm>
            <a:off x="3325872" y="457654"/>
            <a:ext cx="8646116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T" sz="6600" b="0" i="0" u="none" strike="noStrike" dirty="0">
                <a:solidFill>
                  <a:schemeClr val="bg1"/>
                </a:solidFill>
                <a:effectLst/>
                <a:latin typeface="Gill Sans MT" panose="020B0502020104020203" pitchFamily="34" charset="77"/>
              </a:rPr>
              <a:t>Languify</a:t>
            </a:r>
          </a:p>
          <a:p>
            <a:r>
              <a:rPr lang="en-PT" sz="4000" dirty="0">
                <a:solidFill>
                  <a:schemeClr val="bg1"/>
                </a:solidFill>
                <a:latin typeface="-webkit-standard"/>
              </a:rPr>
              <a:t>-Conversação e tradução em tempo real</a:t>
            </a:r>
            <a:r>
              <a:rPr lang="en-PT" sz="4000" b="0" i="0" u="none" strike="noStrike" dirty="0">
                <a:solidFill>
                  <a:schemeClr val="bg1"/>
                </a:solidFill>
                <a:effectLst/>
                <a:latin typeface="-webkit-standard"/>
              </a:rPr>
              <a:t> </a:t>
            </a:r>
            <a:endParaRPr lang="en-PT" sz="40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6A0D47-DB9A-5A30-EF03-746EE06A7A22}"/>
              </a:ext>
            </a:extLst>
          </p:cNvPr>
          <p:cNvSpPr txBox="1"/>
          <p:nvPr/>
        </p:nvSpPr>
        <p:spPr>
          <a:xfrm>
            <a:off x="3672884" y="3561853"/>
            <a:ext cx="3046283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PT" dirty="0">
                <a:solidFill>
                  <a:schemeClr val="bg1"/>
                </a:solidFill>
              </a:rPr>
              <a:t>Carlos Lima - 20240740</a:t>
            </a:r>
          </a:p>
          <a:p>
            <a:pPr>
              <a:lnSpc>
                <a:spcPct val="150000"/>
              </a:lnSpc>
            </a:pPr>
            <a:r>
              <a:rPr lang="en-PT" dirty="0">
                <a:solidFill>
                  <a:schemeClr val="bg1"/>
                </a:solidFill>
              </a:rPr>
              <a:t>Joshua Camilo – 20240716</a:t>
            </a:r>
          </a:p>
          <a:p>
            <a:pPr>
              <a:lnSpc>
                <a:spcPct val="150000"/>
              </a:lnSpc>
            </a:pPr>
            <a:r>
              <a:rPr lang="en-PT" dirty="0">
                <a:solidFill>
                  <a:schemeClr val="bg1"/>
                </a:solidFill>
              </a:rPr>
              <a:t>Henrique Krause - 20240397 </a:t>
            </a:r>
          </a:p>
        </p:txBody>
      </p:sp>
    </p:spTree>
    <p:extLst>
      <p:ext uri="{BB962C8B-B14F-4D97-AF65-F5344CB8AC3E}">
        <p14:creationId xmlns:p14="http://schemas.microsoft.com/office/powerpoint/2010/main" val="614040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38EBCF">
                <a:shade val="30000"/>
                <a:satMod val="115000"/>
              </a:srgbClr>
            </a:gs>
            <a:gs pos="72000">
              <a:srgbClr val="38EBCF">
                <a:shade val="67500"/>
                <a:satMod val="115000"/>
              </a:srgbClr>
            </a:gs>
            <a:gs pos="1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B332A-3554-0928-7078-CD7029482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C8845192-7227-9EE9-561F-E385B70C39A5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DD213CFE-1486-DD8E-FF06-B81768BB99CB}"/>
              </a:ext>
            </a:extLst>
          </p:cNvPr>
          <p:cNvSpPr>
            <a:spLocks noChangeAspect="1"/>
          </p:cNvSpPr>
          <p:nvPr/>
        </p:nvSpPr>
        <p:spPr>
          <a:xfrm rot="5656448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0516C3E2-0140-FD32-F8B7-5F8EE8EE2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BA425618-F133-7F9D-E77A-15046959B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BE750B21-CBEA-EBCD-63E5-FCD84ED11F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B27839D1-AC8D-204F-BFA0-511A8A2310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6E273236-D73F-0121-181E-40E451EDBF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FEF8ACE0-ED5B-2CD3-900A-873B0AD7D6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F540A0-4C89-D00E-C5A5-47A49A3EDED2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PT" dirty="0"/>
              <a:t>​B</a:t>
            </a:r>
            <a:r>
              <a:rPr lang="pt-PT" dirty="0" err="1"/>
              <a:t>arreiras</a:t>
            </a:r>
            <a:r>
              <a:rPr lang="pt-PT" dirty="0"/>
              <a:t> linguísticas dificultam a comunicação entre pessoas de diferentes países.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Traduções manuais ou externas tornam o processo lento, pouco natural e propenso a erros.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Aplicações existentes focam apenas em tradução de texto, mas não oferecem chat estruturado com contexto e histórico.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dirty="0"/>
              <a:t>Falta uma solução que permita comunicação fluida, natural e em tempo real, especialmente em ambientes académicos e profissionais.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9F0C86-BD25-484D-5503-CF321DBF1980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97000">
                <a:srgbClr val="38EBCF">
                  <a:shade val="30000"/>
                  <a:satMod val="115000"/>
                </a:srgbClr>
              </a:gs>
              <a:gs pos="27000">
                <a:srgbClr val="38EBCF">
                  <a:shade val="67500"/>
                  <a:satMod val="115000"/>
                </a:srgbClr>
              </a:gs>
              <a:gs pos="1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Problemas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8ADCF4-5D98-655B-93FD-F858E0E453CB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90000">
                <a:srgbClr val="38EBCF">
                  <a:shade val="675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01</a:t>
            </a:r>
          </a:p>
        </p:txBody>
      </p:sp>
      <p:pic>
        <p:nvPicPr>
          <p:cNvPr id="8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7A9ED686-D971-C4D1-14A2-35142B35D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968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0">
              <a:srgbClr val="38EBCF">
                <a:shade val="30000"/>
                <a:satMod val="115000"/>
              </a:srgbClr>
            </a:gs>
            <a:gs pos="27000">
              <a:srgbClr val="38EBCF">
                <a:shade val="67500"/>
                <a:satMod val="115000"/>
              </a:srgbClr>
            </a:gs>
            <a:gs pos="1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27E20-FD03-505D-17CA-25B2BAF7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6ABBDA84-12B0-7F1E-F3F5-DA915A8FC341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4AA9E709-15B8-B8CD-7A91-1957F34A2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9FB635AA-D5F4-4450-84DD-46BC36683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5B045786-E037-1B13-50A0-0DA8A81EAF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51F6FFEF-4A0A-09E8-C413-3DC92B793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D08575B3-F727-DC69-24DF-ABF4741A1E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FCFC2956-60AE-59CE-B4CA-7C6DF7ED61EF}"/>
              </a:ext>
            </a:extLst>
          </p:cNvPr>
          <p:cNvSpPr>
            <a:spLocks noChangeAspect="1"/>
          </p:cNvSpPr>
          <p:nvPr/>
        </p:nvSpPr>
        <p:spPr>
          <a:xfrm rot="7419074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DE4C5784-8D29-D6ED-2B1E-77318BF27D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BC7A9E-B9E8-B76F-10C3-CFB9DC45A462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97000">
                <a:srgbClr val="38EBCF">
                  <a:shade val="30000"/>
                  <a:satMod val="115000"/>
                </a:srgbClr>
              </a:gs>
              <a:gs pos="27000">
                <a:srgbClr val="38EBCF">
                  <a:shade val="67500"/>
                  <a:satMod val="115000"/>
                </a:srgbClr>
              </a:gs>
              <a:gs pos="1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PT" dirty="0"/>
              <a:t>​</a:t>
            </a:r>
            <a:r>
              <a:rPr lang="pt-PT" cap="all" dirty="0"/>
              <a:t>TRADUÇÃO AUTOMÁTICA EM TEMPO REAL (VOZ + TEXTO).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cap="all" dirty="0"/>
              <a:t>PRESERVAÇÃO DE CONTEXTO PARA CONVERSAS MAIS NATURAIS.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cap="all" dirty="0"/>
              <a:t>PRESERVAÇÃO DE CONTEXTO PARA CONVERSAS MAIS NATURAIS.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cap="all" dirty="0" err="1"/>
              <a:t>iNTERFACE</a:t>
            </a:r>
            <a:r>
              <a:rPr lang="en-GB" cap="all" dirty="0"/>
              <a:t> SIMPLES, CLARA E INTUITIVA.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cap="all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cap="all" dirty="0"/>
              <a:t>SEGURANÇA E PRIVACIDADE COMO PILARES DA ARQUITETURA.</a:t>
            </a:r>
            <a:endParaRPr lang="pt-PT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B279C2A-473A-6189-0F0E-7D2886058F4E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97000">
                <a:srgbClr val="38EBCF">
                  <a:shade val="30000"/>
                  <a:satMod val="115000"/>
                </a:srgbClr>
              </a:gs>
              <a:gs pos="27000">
                <a:srgbClr val="38EBCF">
                  <a:shade val="67500"/>
                  <a:satMod val="115000"/>
                </a:srgbClr>
              </a:gs>
              <a:gs pos="1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Solução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D52401-6A62-EC9F-BF06-30BF85765BA6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97000">
                <a:schemeClr val="accent3">
                  <a:lumMod val="20000"/>
                  <a:lumOff val="80000"/>
                </a:schemeClr>
              </a:gs>
              <a:gs pos="43000">
                <a:srgbClr val="38EBCF">
                  <a:shade val="675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02</a:t>
            </a:r>
          </a:p>
        </p:txBody>
      </p:sp>
      <p:pic>
        <p:nvPicPr>
          <p:cNvPr id="27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1117D00F-1D60-D667-EB0A-608BC3457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5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7000">
              <a:srgbClr val="38EBCF">
                <a:shade val="30000"/>
                <a:satMod val="115000"/>
              </a:srgbClr>
            </a:gs>
            <a:gs pos="45000">
              <a:srgbClr val="38EBCF">
                <a:shade val="67500"/>
                <a:satMod val="115000"/>
              </a:srgbClr>
            </a:gs>
            <a:gs pos="74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ACB4-8CB3-A5DD-C72D-C49739EE1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BF24E8E4-ECC7-09BC-F56B-734D844216DA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97000">
                <a:schemeClr val="accent3">
                  <a:lumMod val="20000"/>
                  <a:lumOff val="80000"/>
                </a:schemeClr>
              </a:gs>
              <a:gs pos="12000">
                <a:srgbClr val="38EBCF">
                  <a:shade val="675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PT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 utilizador fala na sua língua nativa;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A aplicação transcreve o áudio para texto;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 texto é traduzido automaticamente para a língua do recetor.;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O recetor recebe: áudio na sua língua, texto traduzido, e o contexto preservado.;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A conversa fica guardada no histórico;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dirty="0" err="1"/>
              <a:t>geolocalização</a:t>
            </a:r>
            <a:r>
              <a:rPr lang="pt-PT" dirty="0"/>
              <a:t> é registada para visualização no mapa.​</a:t>
            </a:r>
          </a:p>
        </p:txBody>
      </p:sp>
      <p:sp>
        <p:nvSpPr>
          <p:cNvPr id="3" name="Doughnut 2">
            <a:extLst>
              <a:ext uri="{FF2B5EF4-FFF2-40B4-BE49-F238E27FC236}">
                <a16:creationId xmlns:a16="http://schemas.microsoft.com/office/drawing/2014/main" id="{820C9691-98CC-6E25-4372-62B326628675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9CBD6E7B-6C41-41AB-F28B-515C51AFB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F3128318-BD2E-9DCD-5964-48F1C5EF9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5197FC1-5D47-AC01-C750-94F509AB67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98052813-EB2A-7782-4176-0B8437C9B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08A79597-73C7-5A9E-BEEA-0780F5733646}"/>
              </a:ext>
            </a:extLst>
          </p:cNvPr>
          <p:cNvSpPr>
            <a:spLocks noChangeAspect="1"/>
          </p:cNvSpPr>
          <p:nvPr/>
        </p:nvSpPr>
        <p:spPr>
          <a:xfrm rot="8987582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F02AB2F7-0D09-5D65-6D6C-BC1363BA73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E86F7A76-D1E4-F21C-1074-46172FF693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A4D46FF-F8DB-1FEA-3D10-C5708F23B1E7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17000">
                <a:schemeClr val="accent3">
                  <a:lumMod val="20000"/>
                  <a:lumOff val="80000"/>
                </a:schemeClr>
              </a:gs>
              <a:gs pos="80000">
                <a:srgbClr val="38EBCF">
                  <a:shade val="675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Como a solução funciona ?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0D8D217-6923-B5F5-61B0-810FCFB9E4FB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97000">
                <a:schemeClr val="accent3">
                  <a:lumMod val="20000"/>
                  <a:lumOff val="80000"/>
                </a:schemeClr>
              </a:gs>
              <a:gs pos="86000">
                <a:srgbClr val="38EBCF">
                  <a:shade val="675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03</a:t>
            </a:r>
          </a:p>
        </p:txBody>
      </p:sp>
      <p:pic>
        <p:nvPicPr>
          <p:cNvPr id="39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C8FB969A-51D2-DB8A-CBCD-CB9AF3A70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679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38EBCF">
                <a:shade val="30000"/>
                <a:satMod val="115000"/>
              </a:srgbClr>
            </a:gs>
            <a:gs pos="73000">
              <a:srgbClr val="38EBCF">
                <a:shade val="67500"/>
                <a:satMod val="115000"/>
              </a:srgbClr>
            </a:gs>
            <a:gs pos="1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CF6D7-0A8C-227A-ED59-9B7BFEBDA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3322EE19-5E64-F003-4063-4301CB126C50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F7887CE0-892B-FA1D-7637-5EDB4B3C7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A2F68606-FC82-27F6-A57B-FB77A5B5C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086FC4F7-C8FB-16D4-AD41-6DDE5109E7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sp>
        <p:nvSpPr>
          <p:cNvPr id="17" name="Block Arc 16">
            <a:extLst>
              <a:ext uri="{FF2B5EF4-FFF2-40B4-BE49-F238E27FC236}">
                <a16:creationId xmlns:a16="http://schemas.microsoft.com/office/drawing/2014/main" id="{32341300-3AA0-881B-E13F-F1469F824F7D}"/>
              </a:ext>
            </a:extLst>
          </p:cNvPr>
          <p:cNvSpPr>
            <a:spLocks noChangeAspect="1"/>
          </p:cNvSpPr>
          <p:nvPr/>
        </p:nvSpPr>
        <p:spPr>
          <a:xfrm rot="10800000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1" name="Graphic 10" descr="Users outline">
            <a:extLst>
              <a:ext uri="{FF2B5EF4-FFF2-40B4-BE49-F238E27FC236}">
                <a16:creationId xmlns:a16="http://schemas.microsoft.com/office/drawing/2014/main" id="{C7B4EAD7-DDC9-1859-3257-6846B80FB1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3" name="Graphic 12" descr="Information outline">
            <a:extLst>
              <a:ext uri="{FF2B5EF4-FFF2-40B4-BE49-F238E27FC236}">
                <a16:creationId xmlns:a16="http://schemas.microsoft.com/office/drawing/2014/main" id="{3EE58965-702A-4131-17B7-CB89780C08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5" name="Graphic 14" descr="Badge Tick1 with solid fill">
            <a:extLst>
              <a:ext uri="{FF2B5EF4-FFF2-40B4-BE49-F238E27FC236}">
                <a16:creationId xmlns:a16="http://schemas.microsoft.com/office/drawing/2014/main" id="{9EA51D40-B009-810E-2DAF-B6E604CE47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19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D13FAA9D-C1D4-740E-9ADE-75A37373F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486EF90-A1CB-C0BE-EDE6-5EFA6F38050C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0">
                <a:srgbClr val="38EBCF">
                  <a:shade val="30000"/>
                  <a:satMod val="115000"/>
                </a:srgbClr>
              </a:gs>
              <a:gs pos="57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400" dirty="0"/>
              <a:t>Estudantes e Académicos;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400" dirty="0"/>
              <a:t>Profissionais / Empresas Multinacionais;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PT" sz="2400" dirty="0"/>
              <a:t>Utilizadores individuais.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BB19CD1-23CC-4DD6-92AF-1D46A9D9AA09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94000">
                <a:srgbClr val="38EBCF">
                  <a:shade val="30000"/>
                  <a:satMod val="115000"/>
                </a:srgbClr>
              </a:gs>
              <a:gs pos="7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Quem vai utilizar ?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767E74C-F370-5F1B-F7DD-128B8FD9E731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95000">
                <a:srgbClr val="38EBCF">
                  <a:shade val="30000"/>
                  <a:satMod val="115000"/>
                </a:srgbClr>
              </a:gs>
              <a:gs pos="1300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4428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6000">
              <a:srgbClr val="38EBCF">
                <a:shade val="30000"/>
                <a:satMod val="115000"/>
              </a:srgbClr>
            </a:gs>
            <a:gs pos="23000">
              <a:srgbClr val="38EBCF">
                <a:shade val="67500"/>
                <a:satMod val="115000"/>
              </a:srgbClr>
            </a:gs>
            <a:gs pos="87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C3D38-C2AB-B593-B60B-DD1021F0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BC860EAC-06EC-4D01-127E-2A881CA80EAB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A1A2AF9C-A6F8-44E5-A788-88ADC52B0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64F31A0B-BC94-7AFC-8DFD-07D9E3940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sp>
        <p:nvSpPr>
          <p:cNvPr id="11" name="Block Arc 10">
            <a:extLst>
              <a:ext uri="{FF2B5EF4-FFF2-40B4-BE49-F238E27FC236}">
                <a16:creationId xmlns:a16="http://schemas.microsoft.com/office/drawing/2014/main" id="{2D4D50E8-1C36-B512-3CDD-0F27687F077A}"/>
              </a:ext>
            </a:extLst>
          </p:cNvPr>
          <p:cNvSpPr>
            <a:spLocks noChangeAspect="1"/>
          </p:cNvSpPr>
          <p:nvPr/>
        </p:nvSpPr>
        <p:spPr>
          <a:xfrm rot="12416214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938E9C44-C8A5-4F20-7C2A-C3B2D76C9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13" name="Graphic 12" descr="Users outline">
            <a:extLst>
              <a:ext uri="{FF2B5EF4-FFF2-40B4-BE49-F238E27FC236}">
                <a16:creationId xmlns:a16="http://schemas.microsoft.com/office/drawing/2014/main" id="{227D26F1-E306-3341-1F32-8A300EDE0C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5" name="Graphic 14" descr="Information outline">
            <a:extLst>
              <a:ext uri="{FF2B5EF4-FFF2-40B4-BE49-F238E27FC236}">
                <a16:creationId xmlns:a16="http://schemas.microsoft.com/office/drawing/2014/main" id="{AFB847F2-185C-410A-C656-719B61F5B8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7" name="Graphic 16" descr="Badge Tick1 with solid fill">
            <a:extLst>
              <a:ext uri="{FF2B5EF4-FFF2-40B4-BE49-F238E27FC236}">
                <a16:creationId xmlns:a16="http://schemas.microsoft.com/office/drawing/2014/main" id="{28B46B31-128A-126D-289F-1F2F75EB02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19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DA8E5113-D702-FC84-0AF7-5D4BAF488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06ECDC1-2131-6B64-BA49-8FE6DE2E275B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53000">
                <a:srgbClr val="38EBCF">
                  <a:shade val="300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  <a:gs pos="100000">
                <a:srgbClr val="38EBCF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Tradução</a:t>
            </a:r>
            <a:r>
              <a:rPr lang="en-GB" dirty="0"/>
              <a:t> de </a:t>
            </a:r>
            <a:r>
              <a:rPr lang="en-GB" dirty="0" err="1"/>
              <a:t>voz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tempo real (input → </a:t>
            </a:r>
            <a:r>
              <a:rPr lang="en-GB" dirty="0" err="1"/>
              <a:t>transcrição</a:t>
            </a:r>
            <a:r>
              <a:rPr lang="en-GB" dirty="0"/>
              <a:t> → </a:t>
            </a:r>
            <a:r>
              <a:rPr lang="en-GB" dirty="0" err="1"/>
              <a:t>tradução</a:t>
            </a:r>
            <a:r>
              <a:rPr lang="en-GB" dirty="0"/>
              <a:t> → </a:t>
            </a:r>
            <a:r>
              <a:rPr lang="en-GB" dirty="0" err="1"/>
              <a:t>áudio</a:t>
            </a:r>
            <a:r>
              <a:rPr lang="en-GB" dirty="0"/>
              <a:t>);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Chat com </a:t>
            </a:r>
            <a:r>
              <a:rPr lang="en-GB" dirty="0" err="1"/>
              <a:t>preservação</a:t>
            </a:r>
            <a:r>
              <a:rPr lang="en-GB" dirty="0"/>
              <a:t> de context;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Histórico de conversas </a:t>
            </a:r>
            <a:r>
              <a:rPr lang="en-GB" dirty="0" err="1"/>
              <a:t>organizado</a:t>
            </a:r>
            <a:r>
              <a:rPr lang="en-GB" dirty="0"/>
              <a:t>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Visualização</a:t>
            </a:r>
            <a:r>
              <a:rPr lang="en-GB" dirty="0"/>
              <a:t> das conversas </a:t>
            </a:r>
            <a:r>
              <a:rPr lang="en-GB" dirty="0" err="1"/>
              <a:t>num</a:t>
            </a:r>
            <a:r>
              <a:rPr lang="en-GB" dirty="0"/>
              <a:t> </a:t>
            </a:r>
            <a:r>
              <a:rPr lang="en-GB" dirty="0" err="1"/>
              <a:t>mapa</a:t>
            </a:r>
            <a:r>
              <a:rPr lang="en-GB" dirty="0"/>
              <a:t> </a:t>
            </a:r>
            <a:r>
              <a:rPr lang="en-GB" dirty="0" err="1"/>
              <a:t>interativo</a:t>
            </a:r>
            <a:r>
              <a:rPr lang="en-GB" dirty="0"/>
              <a:t>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Interface Android </a:t>
            </a:r>
            <a:r>
              <a:rPr lang="en-GB" dirty="0" err="1"/>
              <a:t>desenvolvida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Kotlin;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Backend </a:t>
            </a:r>
            <a:r>
              <a:rPr lang="en-GB" dirty="0" err="1"/>
              <a:t>em</a:t>
            </a:r>
            <a:r>
              <a:rPr lang="en-GB" dirty="0"/>
              <a:t> Java + Spring Boot;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Integração</a:t>
            </a:r>
            <a:r>
              <a:rPr lang="en-GB" dirty="0"/>
              <a:t> com API de </a:t>
            </a:r>
            <a:r>
              <a:rPr lang="en-GB" dirty="0" err="1"/>
              <a:t>tradução</a:t>
            </a:r>
            <a:r>
              <a:rPr lang="en-GB" dirty="0"/>
              <a:t> (OpenAI);</a:t>
            </a:r>
          </a:p>
          <a:p>
            <a:pPr marL="46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Base de dados PostgreSQL.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641BEF3-CD07-FD88-197A-3D806393C365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95000">
                <a:srgbClr val="38EBCF">
                  <a:shade val="30000"/>
                  <a:satMod val="115000"/>
                </a:srgbClr>
              </a:gs>
              <a:gs pos="600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>
                <a:latin typeface="+mj-lt"/>
              </a:rPr>
              <a:t>Funcionalidades implementadas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A0DCD0C-1B67-7092-54B0-CF9A9DBD46E0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86000">
                <a:srgbClr val="38EBCF">
                  <a:shade val="30000"/>
                  <a:satMod val="115000"/>
                </a:srgbClr>
              </a:gs>
              <a:gs pos="600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88353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7000">
              <a:srgbClr val="38EBCF">
                <a:shade val="30000"/>
                <a:satMod val="115000"/>
              </a:srgbClr>
            </a:gs>
            <a:gs pos="27000">
              <a:srgbClr val="38EBCF">
                <a:shade val="67500"/>
                <a:satMod val="115000"/>
              </a:srgbClr>
            </a:gs>
            <a:gs pos="1000">
              <a:srgbClr val="38EBCF">
                <a:shade val="100000"/>
                <a:satMod val="115000"/>
              </a:srgb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532CF-2496-4A0F-6B98-959CA4E9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ughnut 2">
            <a:extLst>
              <a:ext uri="{FF2B5EF4-FFF2-40B4-BE49-F238E27FC236}">
                <a16:creationId xmlns:a16="http://schemas.microsoft.com/office/drawing/2014/main" id="{63BE5313-24ED-4A21-DC03-E0B7A584D50B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8D80A818-E62D-50EC-3D37-BC2D8B91A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521CFB96-9AFF-D064-B71E-69ED60FEAA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8" name="Graphic 7" descr="Users outline">
            <a:extLst>
              <a:ext uri="{FF2B5EF4-FFF2-40B4-BE49-F238E27FC236}">
                <a16:creationId xmlns:a16="http://schemas.microsoft.com/office/drawing/2014/main" id="{FF52FA8D-6C96-C86E-94E3-A2B6ACA78C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11" name="Graphic 10" descr="Information outline">
            <a:extLst>
              <a:ext uri="{FF2B5EF4-FFF2-40B4-BE49-F238E27FC236}">
                <a16:creationId xmlns:a16="http://schemas.microsoft.com/office/drawing/2014/main" id="{02EB068B-A888-10CB-1508-5F7BB23BE4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3" name="Graphic 12" descr="Badge Tick1 with solid fill">
            <a:extLst>
              <a:ext uri="{FF2B5EF4-FFF2-40B4-BE49-F238E27FC236}">
                <a16:creationId xmlns:a16="http://schemas.microsoft.com/office/drawing/2014/main" id="{C67F046F-15CA-8B1E-E769-8EB67734DF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sp>
        <p:nvSpPr>
          <p:cNvPr id="15" name="Block Arc 14">
            <a:extLst>
              <a:ext uri="{FF2B5EF4-FFF2-40B4-BE49-F238E27FC236}">
                <a16:creationId xmlns:a16="http://schemas.microsoft.com/office/drawing/2014/main" id="{1C03AF59-F252-EBA8-36B4-221E324BF783}"/>
              </a:ext>
            </a:extLst>
          </p:cNvPr>
          <p:cNvSpPr>
            <a:spLocks noChangeAspect="1"/>
          </p:cNvSpPr>
          <p:nvPr/>
        </p:nvSpPr>
        <p:spPr>
          <a:xfrm rot="14261906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5" name="Graphic 4" descr="Close with solid fill">
            <a:extLst>
              <a:ext uri="{FF2B5EF4-FFF2-40B4-BE49-F238E27FC236}">
                <a16:creationId xmlns:a16="http://schemas.microsoft.com/office/drawing/2014/main" id="{5FBA3484-A841-4232-53F3-8833B953B5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7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D7FC446A-81C6-A249-1FEB-97DF7D0D4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56CD861-36A5-3A54-9FEC-DD4AB9A5E993}"/>
              </a:ext>
            </a:extLst>
          </p:cNvPr>
          <p:cNvSpPr/>
          <p:nvPr/>
        </p:nvSpPr>
        <p:spPr>
          <a:xfrm>
            <a:off x="4349889" y="2232142"/>
            <a:ext cx="7240249" cy="4018757"/>
          </a:xfrm>
          <a:prstGeom prst="roundRect">
            <a:avLst>
              <a:gd name="adj" fmla="val 7715"/>
            </a:avLst>
          </a:prstGeom>
          <a:gradFill>
            <a:gsLst>
              <a:gs pos="97000">
                <a:srgbClr val="38EBCF">
                  <a:shade val="30000"/>
                  <a:satMod val="115000"/>
                </a:srgbClr>
              </a:gs>
              <a:gs pos="600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Modo offline </a:t>
            </a:r>
            <a:r>
              <a:rPr lang="en-GB" dirty="0" err="1"/>
              <a:t>completo</a:t>
            </a:r>
            <a:r>
              <a:rPr lang="en-GB" dirty="0"/>
              <a:t> para </a:t>
            </a:r>
            <a:r>
              <a:rPr lang="en-GB" dirty="0" err="1"/>
              <a:t>tradução</a:t>
            </a:r>
            <a:r>
              <a:rPr lang="en-GB" dirty="0"/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Tradução</a:t>
            </a:r>
            <a:r>
              <a:rPr lang="en-GB" dirty="0"/>
              <a:t> multimodal (</a:t>
            </a:r>
            <a:r>
              <a:rPr lang="en-GB" dirty="0" err="1"/>
              <a:t>imagem</a:t>
            </a:r>
            <a:r>
              <a:rPr lang="en-GB" dirty="0"/>
              <a:t> + </a:t>
            </a:r>
            <a:r>
              <a:rPr lang="en-GB" dirty="0" err="1"/>
              <a:t>texto</a:t>
            </a:r>
            <a:r>
              <a:rPr lang="en-GB" dirty="0"/>
              <a:t> + </a:t>
            </a:r>
            <a:r>
              <a:rPr lang="en-GB" dirty="0" err="1"/>
              <a:t>voz</a:t>
            </a:r>
            <a:r>
              <a:rPr lang="en-GB" dirty="0"/>
              <a:t> </a:t>
            </a:r>
            <a:r>
              <a:rPr lang="en-GB" dirty="0" err="1"/>
              <a:t>juntos</a:t>
            </a:r>
            <a:r>
              <a:rPr lang="en-GB" dirty="0"/>
              <a:t>);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Sistema </a:t>
            </a:r>
            <a:r>
              <a:rPr lang="en-GB" dirty="0" err="1"/>
              <a:t>avançado</a:t>
            </a:r>
            <a:r>
              <a:rPr lang="en-GB" dirty="0"/>
              <a:t> de </a:t>
            </a:r>
            <a:r>
              <a:rPr lang="en-GB" dirty="0" err="1"/>
              <a:t>sugestões</a:t>
            </a:r>
            <a:r>
              <a:rPr lang="en-GB" dirty="0"/>
              <a:t> </a:t>
            </a:r>
            <a:r>
              <a:rPr lang="en-GB" dirty="0" err="1"/>
              <a:t>culturais</a:t>
            </a:r>
            <a:r>
              <a:rPr lang="en-GB" dirty="0"/>
              <a:t>/</a:t>
            </a:r>
            <a:r>
              <a:rPr lang="en-GB" dirty="0" err="1"/>
              <a:t>contextuais</a:t>
            </a:r>
            <a:r>
              <a:rPr lang="en-GB" dirty="0"/>
              <a:t> via IA;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Chats de </a:t>
            </a:r>
            <a:r>
              <a:rPr lang="en-GB" dirty="0" err="1"/>
              <a:t>grupo</a:t>
            </a:r>
            <a:r>
              <a:rPr lang="en-GB" dirty="0"/>
              <a:t> </a:t>
            </a:r>
            <a:r>
              <a:rPr lang="en-GB" dirty="0" err="1"/>
              <a:t>multilíngues</a:t>
            </a:r>
            <a:r>
              <a:rPr lang="en-GB" dirty="0"/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Notificações</a:t>
            </a:r>
            <a:r>
              <a:rPr lang="en-GB" dirty="0"/>
              <a:t> </a:t>
            </a:r>
            <a:r>
              <a:rPr lang="en-GB" dirty="0" err="1"/>
              <a:t>inteligentes</a:t>
            </a:r>
            <a:r>
              <a:rPr lang="en-GB" dirty="0"/>
              <a:t> </a:t>
            </a:r>
            <a:r>
              <a:rPr lang="en-GB" dirty="0" err="1"/>
              <a:t>baseadas</a:t>
            </a:r>
            <a:r>
              <a:rPr lang="en-GB" dirty="0"/>
              <a:t> </a:t>
            </a:r>
            <a:r>
              <a:rPr lang="en-GB" dirty="0" err="1"/>
              <a:t>em</a:t>
            </a:r>
            <a:r>
              <a:rPr lang="en-GB" dirty="0"/>
              <a:t> </a:t>
            </a:r>
            <a:r>
              <a:rPr lang="en-GB" dirty="0" err="1"/>
              <a:t>proximidade</a:t>
            </a:r>
            <a:r>
              <a:rPr lang="en-GB" dirty="0"/>
              <a:t> </a:t>
            </a:r>
            <a:r>
              <a:rPr lang="en-GB" dirty="0" err="1"/>
              <a:t>geográfica</a:t>
            </a:r>
            <a:r>
              <a:rPr lang="en-GB" dirty="0"/>
              <a:t>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Integrações</a:t>
            </a:r>
            <a:r>
              <a:rPr lang="en-GB" dirty="0"/>
              <a:t> com </a:t>
            </a:r>
            <a:r>
              <a:rPr lang="en-GB" dirty="0" err="1"/>
              <a:t>plataformas</a:t>
            </a:r>
            <a:r>
              <a:rPr lang="en-GB" dirty="0"/>
              <a:t> </a:t>
            </a:r>
            <a:r>
              <a:rPr lang="en-GB" dirty="0" err="1"/>
              <a:t>externas</a:t>
            </a:r>
            <a:r>
              <a:rPr lang="en-GB" dirty="0"/>
              <a:t> (Zoom, Slack, etc.).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0542EBE-C651-FA15-A07E-F4696DF30420}"/>
              </a:ext>
            </a:extLst>
          </p:cNvPr>
          <p:cNvSpPr/>
          <p:nvPr/>
        </p:nvSpPr>
        <p:spPr>
          <a:xfrm>
            <a:off x="4142437" y="1557289"/>
            <a:ext cx="7621781" cy="879417"/>
          </a:xfrm>
          <a:prstGeom prst="roundRect">
            <a:avLst>
              <a:gd name="adj" fmla="val 50000"/>
            </a:avLst>
          </a:prstGeom>
          <a:gradFill>
            <a:gsLst>
              <a:gs pos="8000">
                <a:srgbClr val="38EBCF">
                  <a:shade val="30000"/>
                  <a:satMod val="115000"/>
                </a:srgbClr>
              </a:gs>
              <a:gs pos="1000">
                <a:schemeClr val="accent3">
                  <a:lumMod val="20000"/>
                  <a:lumOff val="80000"/>
                </a:schemeClr>
              </a:gs>
              <a:gs pos="83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2900" b="1" dirty="0">
                <a:latin typeface="+mj-lt"/>
              </a:rPr>
              <a:t>Funcionalidades não implementadas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A568DB0-6BAA-6F24-B34B-59EB98408941}"/>
              </a:ext>
            </a:extLst>
          </p:cNvPr>
          <p:cNvSpPr>
            <a:spLocks noChangeAspect="1"/>
          </p:cNvSpPr>
          <p:nvPr/>
        </p:nvSpPr>
        <p:spPr>
          <a:xfrm>
            <a:off x="4142437" y="1557289"/>
            <a:ext cx="900000" cy="899683"/>
          </a:xfrm>
          <a:prstGeom prst="ellipse">
            <a:avLst/>
          </a:prstGeom>
          <a:gradFill>
            <a:gsLst>
              <a:gs pos="4000">
                <a:srgbClr val="38EBCF">
                  <a:shade val="30000"/>
                  <a:satMod val="115000"/>
                </a:srgbClr>
              </a:gs>
              <a:gs pos="0">
                <a:schemeClr val="accent3">
                  <a:lumMod val="20000"/>
                  <a:lumOff val="8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T" sz="3200" b="1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007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38EBCF"/>
            </a:gs>
            <a:gs pos="91000">
              <a:srgbClr val="38EBCF"/>
            </a:gs>
            <a:gs pos="69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C1C72-CEF3-96CA-67A4-A66630ED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5D99F6EB-5EAA-BE15-FC02-4F7E689DC373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55AE2795-8452-8068-2252-C45534EB4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11FD710F-E0B4-E485-9455-1FBFA1448714}"/>
              </a:ext>
            </a:extLst>
          </p:cNvPr>
          <p:cNvSpPr>
            <a:spLocks noChangeAspect="1"/>
          </p:cNvSpPr>
          <p:nvPr/>
        </p:nvSpPr>
        <p:spPr>
          <a:xfrm rot="16380725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2C8CF529-1CA5-DF8F-EE85-38D230993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C06DB4F8-C647-15B5-13EF-C7192AD950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038BA865-5FFC-2D20-5C83-51DB867274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AAA6850D-FFE5-FF50-6A22-66B6C7A7FE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6EE00277-82E5-65A4-DAC8-B189C75DCF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31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17ECCC1E-B692-0788-B173-3B47713A9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552129-621B-C464-4AE4-CFA5992E2F54}"/>
              </a:ext>
            </a:extLst>
          </p:cNvPr>
          <p:cNvSpPr txBox="1"/>
          <p:nvPr/>
        </p:nvSpPr>
        <p:spPr>
          <a:xfrm>
            <a:off x="5752474" y="661500"/>
            <a:ext cx="26887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T" sz="6600" dirty="0">
                <a:solidFill>
                  <a:schemeClr val="bg1"/>
                </a:solidFill>
                <a:latin typeface="+mj-lt"/>
              </a:rPr>
              <a:t>Layout</a:t>
            </a:r>
          </a:p>
        </p:txBody>
      </p:sp>
    </p:spTree>
    <p:extLst>
      <p:ext uri="{BB962C8B-B14F-4D97-AF65-F5344CB8AC3E}">
        <p14:creationId xmlns:p14="http://schemas.microsoft.com/office/powerpoint/2010/main" val="1195178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4000">
              <a:srgbClr val="38EBCF">
                <a:shade val="30000"/>
                <a:satMod val="115000"/>
              </a:srgbClr>
            </a:gs>
            <a:gs pos="1000">
              <a:schemeClr val="accent3">
                <a:lumMod val="20000"/>
                <a:lumOff val="80000"/>
              </a:schemeClr>
            </a:gs>
            <a:gs pos="83000">
              <a:schemeClr val="accent3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CD65F9-9908-7562-1AF7-C8739EE1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ughnut 6">
            <a:extLst>
              <a:ext uri="{FF2B5EF4-FFF2-40B4-BE49-F238E27FC236}">
                <a16:creationId xmlns:a16="http://schemas.microsoft.com/office/drawing/2014/main" id="{DC552278-5688-8E04-8F29-539F2E811E12}"/>
              </a:ext>
            </a:extLst>
          </p:cNvPr>
          <p:cNvSpPr>
            <a:spLocks noChangeAspect="1"/>
          </p:cNvSpPr>
          <p:nvPr/>
        </p:nvSpPr>
        <p:spPr>
          <a:xfrm>
            <a:off x="-3240000" y="321853"/>
            <a:ext cx="6480000" cy="6480000"/>
          </a:xfrm>
          <a:prstGeom prst="donut">
            <a:avLst/>
          </a:prstGeom>
          <a:gradFill flip="none" rotWithShape="1">
            <a:gsLst>
              <a:gs pos="0">
                <a:srgbClr val="38EBCF">
                  <a:shade val="30000"/>
                  <a:satMod val="115000"/>
                </a:srgbClr>
              </a:gs>
              <a:gs pos="50000">
                <a:srgbClr val="38EBCF">
                  <a:shade val="67500"/>
                  <a:satMod val="115000"/>
                </a:srgbClr>
              </a:gs>
              <a:gs pos="100000">
                <a:srgbClr val="38EBCF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 dirty="0">
              <a:solidFill>
                <a:schemeClr val="tx1"/>
              </a:solidFill>
            </a:endParaRPr>
          </a:p>
        </p:txBody>
      </p:sp>
      <p:pic>
        <p:nvPicPr>
          <p:cNvPr id="24" name="Graphic 23" descr="Warning with solid fill">
            <a:extLst>
              <a:ext uri="{FF2B5EF4-FFF2-40B4-BE49-F238E27FC236}">
                <a16:creationId xmlns:a16="http://schemas.microsoft.com/office/drawing/2014/main" id="{61B666D7-B0E2-987F-8921-7023D896B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430" y="869429"/>
            <a:ext cx="900000" cy="900000"/>
          </a:xfrm>
          <a:prstGeom prst="rect">
            <a:avLst/>
          </a:prstGeom>
        </p:spPr>
      </p:pic>
      <p:sp>
        <p:nvSpPr>
          <p:cNvPr id="26" name="Block Arc 25">
            <a:extLst>
              <a:ext uri="{FF2B5EF4-FFF2-40B4-BE49-F238E27FC236}">
                <a16:creationId xmlns:a16="http://schemas.microsoft.com/office/drawing/2014/main" id="{67C4F415-5C5B-4162-9CD6-7E40B5D3A84F}"/>
              </a:ext>
            </a:extLst>
          </p:cNvPr>
          <p:cNvSpPr>
            <a:spLocks noChangeAspect="1"/>
          </p:cNvSpPr>
          <p:nvPr/>
        </p:nvSpPr>
        <p:spPr>
          <a:xfrm rot="16380725">
            <a:off x="-3420001" y="310509"/>
            <a:ext cx="6840000" cy="6840000"/>
          </a:xfrm>
          <a:prstGeom prst="blockArc">
            <a:avLst>
              <a:gd name="adj1" fmla="val 10658441"/>
              <a:gd name="adj2" fmla="val 12644998"/>
              <a:gd name="adj3" fmla="val 27438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T">
              <a:solidFill>
                <a:schemeClr val="tx1"/>
              </a:solidFill>
            </a:endParaRPr>
          </a:p>
        </p:txBody>
      </p:sp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E3F23478-6A2B-FB1D-4765-4076673F91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430" y="5538571"/>
            <a:ext cx="900000" cy="900000"/>
          </a:xfrm>
          <a:prstGeom prst="rect">
            <a:avLst/>
          </a:prstGeom>
        </p:spPr>
      </p:pic>
      <p:pic>
        <p:nvPicPr>
          <p:cNvPr id="16" name="Graphic 15" descr="Badge Tick1 outline">
            <a:extLst>
              <a:ext uri="{FF2B5EF4-FFF2-40B4-BE49-F238E27FC236}">
                <a16:creationId xmlns:a16="http://schemas.microsoft.com/office/drawing/2014/main" id="{D4BCC1E0-FF54-BACA-255C-402F374F0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6194" y="4876431"/>
            <a:ext cx="900000" cy="900000"/>
          </a:xfrm>
          <a:prstGeom prst="rect">
            <a:avLst/>
          </a:prstGeom>
        </p:spPr>
      </p:pic>
      <p:pic>
        <p:nvPicPr>
          <p:cNvPr id="20" name="Graphic 19" descr="Users outline">
            <a:extLst>
              <a:ext uri="{FF2B5EF4-FFF2-40B4-BE49-F238E27FC236}">
                <a16:creationId xmlns:a16="http://schemas.microsoft.com/office/drawing/2014/main" id="{0BC3460C-FE46-2493-8501-46A4DC750D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6664" y="3769142"/>
            <a:ext cx="900000" cy="900000"/>
          </a:xfrm>
          <a:prstGeom prst="rect">
            <a:avLst/>
          </a:prstGeom>
        </p:spPr>
      </p:pic>
      <p:pic>
        <p:nvPicPr>
          <p:cNvPr id="22" name="Graphic 21" descr="Information outline">
            <a:extLst>
              <a:ext uri="{FF2B5EF4-FFF2-40B4-BE49-F238E27FC236}">
                <a16:creationId xmlns:a16="http://schemas.microsoft.com/office/drawing/2014/main" id="{B5FE10C8-4D04-399F-502B-472D289755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06664" y="2661853"/>
            <a:ext cx="900000" cy="900000"/>
          </a:xfrm>
          <a:prstGeom prst="rect">
            <a:avLst/>
          </a:prstGeom>
        </p:spPr>
      </p:pic>
      <p:pic>
        <p:nvPicPr>
          <p:cNvPr id="18" name="Graphic 17" descr="Badge Tick1 with solid fill">
            <a:extLst>
              <a:ext uri="{FF2B5EF4-FFF2-40B4-BE49-F238E27FC236}">
                <a16:creationId xmlns:a16="http://schemas.microsoft.com/office/drawing/2014/main" id="{FC26A9AD-4B9E-1306-7198-29BA9348AD7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46194" y="1557289"/>
            <a:ext cx="900000" cy="900000"/>
          </a:xfrm>
          <a:prstGeom prst="rect">
            <a:avLst/>
          </a:prstGeom>
        </p:spPr>
      </p:pic>
      <p:pic>
        <p:nvPicPr>
          <p:cNvPr id="31" name="Picture 3" descr="A logo of two heads&#10;&#10;AI-generated content may be incorrect.">
            <a:extLst>
              <a:ext uri="{FF2B5EF4-FFF2-40B4-BE49-F238E27FC236}">
                <a16:creationId xmlns:a16="http://schemas.microsoft.com/office/drawing/2014/main" id="{3A8FC42E-0993-E23C-B658-5ABAD4525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737" y="-313215"/>
            <a:ext cx="1949430" cy="194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F6DCC6-BEBF-E21B-5775-FA08F970723B}"/>
              </a:ext>
            </a:extLst>
          </p:cNvPr>
          <p:cNvSpPr txBox="1"/>
          <p:nvPr/>
        </p:nvSpPr>
        <p:spPr>
          <a:xfrm>
            <a:off x="5156819" y="2875002"/>
            <a:ext cx="33059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sz="6600" dirty="0">
                <a:solidFill>
                  <a:schemeClr val="bg1"/>
                </a:solidFill>
                <a:latin typeface="+mj-lt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764420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335</Words>
  <Application>Microsoft Macintosh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-webkit-standard</vt:lpstr>
      <vt:lpstr>Aptos</vt:lpstr>
      <vt:lpstr>Aptos Display</vt:lpstr>
      <vt:lpstr>Arial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Alexandre Avelino Lima</dc:creator>
  <cp:lastModifiedBy>Carlos Alexandre Avelino Lima</cp:lastModifiedBy>
  <cp:revision>2</cp:revision>
  <dcterms:created xsi:type="dcterms:W3CDTF">2025-12-12T08:51:40Z</dcterms:created>
  <dcterms:modified xsi:type="dcterms:W3CDTF">2025-12-12T22:47:50Z</dcterms:modified>
</cp:coreProperties>
</file>